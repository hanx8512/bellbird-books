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523ff47c27b419c" /><Relationship Type="http://schemas.openxmlformats.org/officeDocument/2006/relationships/extended-properties" Target="/docProps/app.xml" Id="R5bd2d8a9f63b4edf" /><Relationship Type="http://schemas.openxmlformats.org/officeDocument/2006/relationships/officeDocument" Target="/ppt/presentation.xml" Id="R6f1ef663fd9e4f2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d91bd29c60e4c15"/>
  </p:sldMasterIdLst>
  <p:notesMasterIdLst>
    <p:notesMasterId xmlns:r="http://schemas.openxmlformats.org/officeDocument/2006/relationships" r:id="R739abd93f59542b9"/>
  </p:notesMasterIdLst>
  <p:sldIdLst>
    <p:sldId xmlns:r="http://schemas.openxmlformats.org/officeDocument/2006/relationships" id="256" r:id="R38202921dbbc43e7"/>
    <p:sldId xmlns:r="http://schemas.openxmlformats.org/officeDocument/2006/relationships" id="257" r:id="R80b45d7e697f4b67"/>
    <p:sldId xmlns:r="http://schemas.openxmlformats.org/officeDocument/2006/relationships" id="258" r:id="R3b75fe8d5bc04730"/>
    <p:sldId xmlns:r="http://schemas.openxmlformats.org/officeDocument/2006/relationships" id="259" r:id="Rea1c657c569b44ec"/>
    <p:sldId xmlns:r="http://schemas.openxmlformats.org/officeDocument/2006/relationships" id="260" r:id="R85f977b62a9e4279"/>
    <p:sldId xmlns:r="http://schemas.openxmlformats.org/officeDocument/2006/relationships" id="261" r:id="Rb9fb28eb3eef43ca"/>
    <p:sldId xmlns:r="http://schemas.openxmlformats.org/officeDocument/2006/relationships" id="262" r:id="R6d6b76a16f804a64"/>
    <p:sldId xmlns:r="http://schemas.openxmlformats.org/officeDocument/2006/relationships" id="263" r:id="R36e43cac06c04752"/>
    <p:sldId xmlns:r="http://schemas.openxmlformats.org/officeDocument/2006/relationships" id="264" r:id="R3b4b61dba0974ed7"/>
    <p:sldId xmlns:r="http://schemas.openxmlformats.org/officeDocument/2006/relationships" id="265" r:id="R459b22b32ac9410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3d0b1b361964afc" /><Relationship Type="http://schemas.openxmlformats.org/officeDocument/2006/relationships/slideMaster" Target="/ppt/slideMasters/slideMaster1.xml" Id="R4d91bd29c60e4c15" /><Relationship Type="http://schemas.openxmlformats.org/officeDocument/2006/relationships/notesMaster" Target="/ppt/notesMasters/notesMaster1.xml" Id="R739abd93f59542b9" /><Relationship Type="http://schemas.openxmlformats.org/officeDocument/2006/relationships/presProps" Target="/ppt/presProps.xml" Id="R767561e0869f4af9" /><Relationship Type="http://schemas.openxmlformats.org/officeDocument/2006/relationships/tableStyles" Target="/ppt/tableStyles.xml" Id="R637e23f46fb446e9" /><Relationship Type="http://schemas.openxmlformats.org/officeDocument/2006/relationships/slide" Target="/ppt/slides/slide1.xml" Id="R38202921dbbc43e7" /><Relationship Type="http://schemas.openxmlformats.org/officeDocument/2006/relationships/slide" Target="/ppt/slides/slide2.xml" Id="R80b45d7e697f4b67" /><Relationship Type="http://schemas.openxmlformats.org/officeDocument/2006/relationships/slide" Target="/ppt/slides/slide3.xml" Id="R3b75fe8d5bc04730" /><Relationship Type="http://schemas.openxmlformats.org/officeDocument/2006/relationships/slide" Target="/ppt/slides/slide4.xml" Id="Rea1c657c569b44ec" /><Relationship Type="http://schemas.openxmlformats.org/officeDocument/2006/relationships/slide" Target="/ppt/slides/slide5.xml" Id="R85f977b62a9e4279" /><Relationship Type="http://schemas.openxmlformats.org/officeDocument/2006/relationships/slide" Target="/ppt/slides/slide6.xml" Id="Rb9fb28eb3eef43ca" /><Relationship Type="http://schemas.openxmlformats.org/officeDocument/2006/relationships/slide" Target="/ppt/slides/slide7.xml" Id="R6d6b76a16f804a64" /><Relationship Type="http://schemas.openxmlformats.org/officeDocument/2006/relationships/slide" Target="/ppt/slides/slide8.xml" Id="R36e43cac06c04752" /><Relationship Type="http://schemas.openxmlformats.org/officeDocument/2006/relationships/slide" Target="/ppt/slides/slide9.xml" Id="R3b4b61dba0974ed7" /><Relationship Type="http://schemas.openxmlformats.org/officeDocument/2006/relationships/slide" Target="/ppt/slides/slide10.xml" Id="R459b22b32ac9410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8eab69ee550488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2ec81e639f74b8a" /><Relationship Type="http://schemas.openxmlformats.org/officeDocument/2006/relationships/notesMaster" Target="/ppt/notesMasters/notesMaster1.xml" Id="Rbd2be168ce05498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99e1189e4064283" /><Relationship Type="http://schemas.openxmlformats.org/officeDocument/2006/relationships/notesMaster" Target="/ppt/notesMasters/notesMaster1.xml" Id="R30bc73e9e41a485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e561b6bea274498" /><Relationship Type="http://schemas.openxmlformats.org/officeDocument/2006/relationships/notesMaster" Target="/ppt/notesMasters/notesMaster1.xml" Id="R840bc8406e904e1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203070fae664c5a" /><Relationship Type="http://schemas.openxmlformats.org/officeDocument/2006/relationships/notesMaster" Target="/ppt/notesMasters/notesMaster1.xml" Id="R1bfa1defd6714e6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4e4f782440e4c8d" /><Relationship Type="http://schemas.openxmlformats.org/officeDocument/2006/relationships/notesMaster" Target="/ppt/notesMasters/notesMaster1.xml" Id="Rfbbb8ea929a14b7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a6ae3c18b36495a" /><Relationship Type="http://schemas.openxmlformats.org/officeDocument/2006/relationships/notesMaster" Target="/ppt/notesMasters/notesMaster1.xml" Id="Rfd5630f5273f465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e23a265a8ca4ab3" /><Relationship Type="http://schemas.openxmlformats.org/officeDocument/2006/relationships/notesMaster" Target="/ppt/notesMasters/notesMaster1.xml" Id="Rc52d469d7042470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7298cc9242b45be" /><Relationship Type="http://schemas.openxmlformats.org/officeDocument/2006/relationships/notesMaster" Target="/ppt/notesMasters/notesMaster1.xml" Id="R84c509bedc96462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2af136a85614192" /><Relationship Type="http://schemas.openxmlformats.org/officeDocument/2006/relationships/notesMaster" Target="/ppt/notesMasters/notesMaster1.xml" Id="R2134df6700764d5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10c28c8ea5848f3" /><Relationship Type="http://schemas.openxmlformats.org/officeDocument/2006/relationships/notesMaster" Target="/ppt/notesMasters/notesMaster1.xml" Id="R295581c5a1574bd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store problem, not the feature list.</a:t>
            </a:r>
          </a:p>
          <a:p xmlns:a="http://schemas.openxmlformats.org/drawingml/2006/main">
            <a:r>
              <a:t>Introduce the three team members and the A3 scope.</a:t>
            </a:r>
          </a:p>
          <a:p xmlns:a="http://schemas.openxmlformats.org/drawingml/2006/main">
            <a:r>
              <a:t>Keep this slide under 30 seconds.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Name each stakeholder and the workflow that breaks.</a:t>
            </a:r>
          </a:p>
          <a:p xmlns:a="http://schemas.openxmlformats.org/drawingml/2006/main">
            <a:r>
              <a:t>Use the actual store language: sections, special orders, used copies.</a:t>
            </a:r>
          </a:p>
          <a:p xmlns:a="http://schemas.openxmlformats.org/drawingml/2006/main">
            <a:r>
              <a:t>Do not describe the solution yet.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why the scope was reduced: time, not a change in the core problem.</a:t>
            </a:r>
          </a:p>
          <a:p xmlns:a="http://schemas.openxmlformats.org/drawingml/2006/main">
            <a:r>
              <a:t>Point to CR-01 in the repository.</a:t>
            </a:r>
          </a:p>
          <a:p xmlns:a="http://schemas.openxmlformats.org/drawingml/2006/main">
            <a:r>
              <a:t>Be explicit about what is not finished.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Describe the request path in one sentence.</a:t>
            </a:r>
          </a:p>
          <a:p xmlns:a="http://schemas.openxmlformats.org/drawingml/2006/main">
            <a:r>
              <a:t>Explain why the zero-dependency choice matters for the teaching-lab demo.</a:t>
            </a:r>
          </a:p>
          <a:p xmlns:a="http://schemas.openxmlformats.org/drawingml/2006/main">
            <a:r>
              <a:t>Mention that the architecture is still a normal web application.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the three sprint goals, not every story.</a:t>
            </a:r>
          </a:p>
          <a:p xmlns:a="http://schemas.openxmlformats.org/drawingml/2006/main">
            <a:r>
              <a:t>Point out the PM rotation requirement.</a:t>
            </a:r>
          </a:p>
          <a:p xmlns:a="http://schemas.openxmlformats.org/drawingml/2006/main">
            <a:r>
              <a:t>The Jira board is the evidence for this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review and CI gates as real controls, not ceremony.</a:t>
            </a:r>
          </a:p>
          <a:p xmlns:a="http://schemas.openxmlformats.org/drawingml/2006/main">
            <a:r>
              <a:t>Show the Jira board and one pull request if time allows.</a:t>
            </a:r>
          </a:p>
          <a:p xmlns:a="http://schemas.openxmlformats.org/drawingml/2006/main">
            <a:r>
              <a:t>Mention the Definition of Done file.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the demo under three minutes.</a:t>
            </a:r>
          </a:p>
          <a:p xmlns:a="http://schemas.openxmlformats.org/drawingml/2006/main">
            <a:r>
              <a:t>Narrate the acceptance criterion for each step.</a:t>
            </a:r>
          </a:p>
          <a:p xmlns:a="http://schemas.openxmlformats.org/drawingml/2006/main">
            <a:r>
              <a:t>Do not debug in front of the audience.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Lead with the defect, not the test count.</a:t>
            </a:r>
          </a:p>
          <a:p xmlns:a="http://schemas.openxmlformats.org/drawingml/2006/main">
            <a:r>
              <a:t>Explain what the boundary defect would have done in the store.</a:t>
            </a:r>
          </a:p>
          <a:p xmlns:a="http://schemas.openxmlformats.org/drawingml/2006/main">
            <a:r>
              <a:t>State the remaining manual checks honestly.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the tag and the clean-checkout evidence.</a:t>
            </a:r>
          </a:p>
          <a:p xmlns:a="http://schemas.openxmlformats.org/drawingml/2006/main">
            <a:r>
              <a:t>State the known limitation before the audience asks.</a:t>
            </a:r>
          </a:p>
          <a:p xmlns:a="http://schemas.openxmlformats.org/drawingml/2006/main">
            <a:r>
              <a:t>Point to the README for handover.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with the outcome and the limitation.</a:t>
            </a:r>
          </a:p>
          <a:p xmlns:a="http://schemas.openxmlformats.org/drawingml/2006/main">
            <a:r>
              <a:t>Invite questions on scope, testing, Jira evidence or individual contribution.</a:t>
            </a:r>
          </a:p>
          <a:p xmlns:a="http://schemas.openxmlformats.org/drawingml/2006/main">
            <a:r>
              <a:t>Keep the Q&amp;A answers concrete and evidence-based.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e9afa7337947a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7a87973038494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1097e66e1e448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d87b6715a54a7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0af750612c46c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630eacc90742e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9FA4D58-2D99-4560-BBB3-ED6DD6C6BF9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62B5213-683E-4D79-87A1-12D6273D57A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3B19F17-5DE0-4ABB-93DA-1A0BDB6D58E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E712A74-6695-4CA4-BEB2-3A3B1681317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AB70577-2B7C-4298-A1FB-62B1E316E42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6587C09-D8DF-4AB4-A2E3-FC3E9FA7F67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E595837-B0C2-4C0B-B27A-DBC3E844B8C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CA07AB2-22A9-45A8-A3D3-5283BEFB805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A56F21E-2C47-4A0E-AAEA-DF8421FDDC0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2611D00-2C61-4D5F-B648-A407B824FFC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eb8c45ad50647d9" /><Relationship Type="http://schemas.openxmlformats.org/officeDocument/2006/relationships/slideLayout" Target="/ppt/slideLayouts/slideLayout1.xml" Id="Ra6d998e6f71a4391" /><Relationship Type="http://schemas.openxmlformats.org/officeDocument/2006/relationships/slideLayout" Target="/ppt/slideLayouts/slideLayout2.xml" Id="R146be0813cc146a0" /><Relationship Type="http://schemas.openxmlformats.org/officeDocument/2006/relationships/slideLayout" Target="/ppt/slideLayouts/slideLayout3.xml" Id="R642cbae2d0f54a0e" /><Relationship Type="http://schemas.openxmlformats.org/officeDocument/2006/relationships/slideLayout" Target="/ppt/slideLayouts/slideLayout4.xml" Id="Reaedf6f1b2a9415e" /><Relationship Type="http://schemas.openxmlformats.org/officeDocument/2006/relationships/slideLayout" Target="/ppt/slideLayouts/slideLayout5.xml" Id="Rb962ec74d1374956" /><Relationship Type="http://schemas.openxmlformats.org/officeDocument/2006/relationships/slideLayout" Target="/ppt/slideLayouts/slideLayout6.xml" Id="R0cede17fadc0440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6d998e6f71a4391"/>
    <p:sldLayoutId xmlns:r="http://schemas.openxmlformats.org/officeDocument/2006/relationships" id="2147483650" r:id="R146be0813cc146a0"/>
    <p:sldLayoutId xmlns:r="http://schemas.openxmlformats.org/officeDocument/2006/relationships" id="2147483651" r:id="R642cbae2d0f54a0e"/>
    <p:sldLayoutId xmlns:r="http://schemas.openxmlformats.org/officeDocument/2006/relationships" id="2147483652" r:id="Reaedf6f1b2a9415e"/>
    <p:sldLayoutId xmlns:r="http://schemas.openxmlformats.org/officeDocument/2006/relationships" id="2147483653" r:id="Rb962ec74d1374956"/>
    <p:sldLayoutId xmlns:r="http://schemas.openxmlformats.org/officeDocument/2006/relationships" id="2147483654" r:id="R0cede17fadc0440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0a8bdbbba9045d1" /><Relationship Type="http://schemas.openxmlformats.org/officeDocument/2006/relationships/notesSlide" Target="/ppt/notesSlides/notesSlide1.xml" Id="R80116ff365e64e3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fde436e9fa84a8f" /><Relationship Type="http://schemas.openxmlformats.org/officeDocument/2006/relationships/notesSlide" Target="/ppt/notesSlides/notesSlide2.xml" Id="Rf6ec881bddbb447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a6d01cd0e646fa" /><Relationship Type="http://schemas.openxmlformats.org/officeDocument/2006/relationships/notesSlide" Target="/ppt/notesSlides/notesSlide3.xml" Id="R0cc9476a5e7a4ed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c573c8b89bd49c8" /><Relationship Type="http://schemas.openxmlformats.org/officeDocument/2006/relationships/notesSlide" Target="/ppt/notesSlides/notesSlide4.xml" Id="R24df95a7813c4c5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f4d073dfaca4e63" /><Relationship Type="http://schemas.openxmlformats.org/officeDocument/2006/relationships/notesSlide" Target="/ppt/notesSlides/notesSlide5.xml" Id="R0751c0b53bd74d0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9335e2583ad4315" /><Relationship Type="http://schemas.openxmlformats.org/officeDocument/2006/relationships/notesSlide" Target="/ppt/notesSlides/notesSlide6.xml" Id="Racaa0686511a41a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c1969f974d84b41" /><Relationship Type="http://schemas.openxmlformats.org/officeDocument/2006/relationships/notesSlide" Target="/ppt/notesSlides/notesSlide7.xml" Id="Rd831930b678342c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50a02daab274c46" /><Relationship Type="http://schemas.openxmlformats.org/officeDocument/2006/relationships/notesSlide" Target="/ppt/notesSlides/notesSlide8.xml" Id="R4cf310a3e9a3498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81db15a66124168" /><Relationship Type="http://schemas.openxmlformats.org/officeDocument/2006/relationships/notesSlide" Target="/ppt/notesSlides/notesSlide9.xml" Id="R8a55b9c798f842f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be32320b9684b79" /><Relationship Type="http://schemas.openxmlformats.org/officeDocument/2006/relationships/notesSlide" Target="/ppt/notesSlides/notesSlide10.xml" Id="R222737adbeb6449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3F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D70252-4A91-434F-A37B-DC5396B86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239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C9A227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C9A227"/>
                </a:solidFill>
              </a:defRPr>
            </a:pPr>
            <a:r>
              <a:rPr sz="1050" b="1">
                <a:solidFill>
                  <a:srgbClr val="C9A227"/>
                </a:solidFill>
              </a:rPr>
              <a:t>BELLBIRD BOOKS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8C8DDD-7CC1-44E1-B3FF-1CC11B9AA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81125"/>
            <a:ext cx="9906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3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lnSpc>
                <a:spcPct val="105000"/>
              </a:lnSpc>
              <a:buNone/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Inventory and pickup,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without the paper trail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2209A4-EECC-496A-A044-66140BC67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91000"/>
            <a:ext cx="571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>
                <a:solidFill>
                  <a:srgbClr val="CFE0D8"/>
                </a:solidFill>
              </a:defRPr>
            </a:defPPr>
          </a:lstStyle>
          <a:p xmlns:a="http://schemas.openxmlformats.org/drawingml/2006/main">
            <a:pPr>
              <a:defRPr sz="1350">
                <a:solidFill>
                  <a:srgbClr val="CFE0D8"/>
                </a:solidFill>
              </a:defRPr>
            </a:pPr>
            <a:r>
              <a:rPr sz="1350">
                <a:solidFill>
                  <a:srgbClr val="CFE0D8"/>
                </a:solidFill>
              </a:rPr>
              <a:t>BB-IMS | ISYS3001 A3 | Group T23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CA161F-9826-47BA-A1A5-8242F541B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67250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CFE0D8"/>
                </a:solidFill>
              </a:defRPr>
            </a:defPPr>
          </a:lstStyle>
          <a:p xmlns:a="http://schemas.openxmlformats.org/drawingml/2006/main">
            <a:pPr>
              <a:defRPr sz="1275">
                <a:solidFill>
                  <a:srgbClr val="CFE0D8"/>
                </a:solidFill>
              </a:defRPr>
            </a:pPr>
            <a:r>
              <a:rPr sz="1275">
                <a:solidFill>
                  <a:srgbClr val="CFE0D8"/>
                </a:solidFill>
              </a:rPr>
              <a:t>杨世垣  ·  刘汉  ·  李宁杰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D44610-1819-47EF-8C99-08AEDC732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292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227"/>
          </a:solidFill>
          <a:ln xmlns:a="http://schemas.openxmlformats.org/drawingml/2006/main" w="0">
            <a:solidFill>
              <a:srgbClr val="C9A22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777A97-2F84-4245-84A8-8A30BB52B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150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>
                <a:solidFill>
                  <a:srgbClr val="CFE0D8"/>
                </a:solidFill>
              </a:defRPr>
            </a:defPPr>
          </a:lstStyle>
          <a:p xmlns:a="http://schemas.openxmlformats.org/drawingml/2006/main">
            <a:pPr>
              <a:defRPr sz="1125">
                <a:solidFill>
                  <a:srgbClr val="CFE0D8"/>
                </a:solidFill>
              </a:defRPr>
            </a:pPr>
            <a:r>
              <a:rPr sz="1125">
                <a:solidFill>
                  <a:srgbClr val="CFE0D8"/>
                </a:solidFill>
              </a:rPr>
              <a:t>19 October 2026</a:t>
            </a:r>
          </a:p>
        </p:txBody>
      </p:sp>
    </p:spTree>
    <p:extLst>
      <p:ext uri="{BB962C8B-B14F-4D97-AF65-F5344CB8AC3E}">
        <p14:creationId xmlns:p14="http://schemas.microsoft.com/office/powerpoint/2010/main" val="105518389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310831-B1D8-4C95-B9E0-62ECF9BB8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3F35"/>
                </a:solidFill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73F35"/>
                </a:solidFill>
              </a:defRPr>
            </a:pPr>
            <a:r>
              <a:rPr sz="3000" b="1">
                <a:solidFill>
                  <a:srgbClr val="173F35"/>
                </a:solidFill>
              </a:rPr>
              <a:t>Three daily problems behind the paper trail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ACEE4A-30A8-4310-ACD7-38C01A358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227"/>
          </a:solidFill>
          <a:ln xmlns:a="http://schemas.openxmlformats.org/drawingml/2006/main" w="0">
            <a:solidFill>
              <a:srgbClr val="C9A22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9DE0C4-EE6D-4D9B-9A95-BD1FB4B1B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>
                <a:solidFill>
                  <a:srgbClr val="5D6B68"/>
                </a:solidFill>
              </a:defRPr>
            </a:defPPr>
          </a:lstStyle>
          <a:p xmlns:a="http://schemas.openxmlformats.org/drawingml/2006/main">
            <a:pPr>
              <a:defRPr sz="825">
                <a:solidFill>
                  <a:srgbClr val="5D6B68"/>
                </a:solidFill>
              </a:defRPr>
            </a:pPr>
            <a:r>
              <a:rPr sz="825">
                <a:solidFill>
                  <a:srgbClr val="5D6B68"/>
                </a:solidFill>
              </a:rPr>
              <a:t>BB-IMS | Group T23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FFF052-CD19-4601-8793-AF154CA4F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825">
                <a:solidFill>
                  <a:srgbClr val="5D6B68"/>
                </a:solidFill>
              </a:defRPr>
            </a:defPPr>
          </a:lstStyle>
          <a:p xmlns:a="http://schemas.openxmlformats.org/drawingml/2006/main">
            <a:pPr algn="r">
              <a:defRPr sz="825">
                <a:solidFill>
                  <a:srgbClr val="5D6B68"/>
                </a:solidFill>
              </a:defRPr>
            </a:pPr>
            <a:r>
              <a:rPr sz="825">
                <a:solidFill>
                  <a:srgbClr val="5D6B68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16CB2A-CDCD-4AF8-B5A4-DE261F042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09750"/>
            <a:ext cx="476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D2927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D2927"/>
                </a:solidFill>
              </a:defRPr>
            </a:pPr>
            <a:r>
              <a:rPr sz="1800" b="1">
                <a:solidFill>
                  <a:srgbClr val="1D2927"/>
                </a:solidFill>
              </a:rPr>
              <a:t>Roz cannot see stock by section without walking the shelves.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E3554B-D07E-484C-97C8-F37225F63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43250"/>
            <a:ext cx="476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>
                <a:solidFill>
                  <a:srgbClr val="1D2927"/>
                </a:solidFill>
              </a:defRPr>
            </a:defPPr>
          </a:lstStyle>
          <a:p xmlns:a="http://schemas.openxmlformats.org/drawingml/2006/main">
            <a:pPr>
              <a:defRPr sz="1800">
                <a:solidFill>
                  <a:srgbClr val="1D2927"/>
                </a:solidFill>
              </a:defRPr>
            </a:pPr>
            <a:r>
              <a:rPr sz="1800">
                <a:solidFill>
                  <a:srgbClr val="1D2927"/>
                </a:solidFill>
              </a:rPr>
              <a:t>Priya loses special orders when a shift changes.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036ACA-973B-4B2C-A394-0BE652FC9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52625"/>
            <a:ext cx="4667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>
                <a:solidFill>
                  <a:srgbClr val="1D2927"/>
                </a:solidFill>
              </a:defRPr>
            </a:defPPr>
          </a:lstStyle>
          <a:p xmlns:a="http://schemas.openxmlformats.org/drawingml/2006/main">
            <a:pPr>
              <a:defRPr sz="1800">
                <a:solidFill>
                  <a:srgbClr val="1D2927"/>
                </a:solidFill>
              </a:defRPr>
            </a:pPr>
            <a:r>
              <a:rPr sz="1800">
                <a:solidFill>
                  <a:srgbClr val="1D2927"/>
                </a:solidFill>
              </a:rPr>
              <a:t>Deniz cannot reconcile condition, cost and shelf location for used copies.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8E9F21-8A83-437E-A058-58E9A6525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5300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F5B4A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F5B4A"/>
                </a:solidFill>
              </a:defRPr>
            </a:pPr>
            <a:r>
              <a:rPr sz="1500" b="1">
                <a:solidFill>
                  <a:srgbClr val="1F5B4A"/>
                </a:solidFill>
              </a:rPr>
              <a:t>The store needs one shared record for stock, requests and pickup.</a:t>
            </a:r>
          </a:p>
        </p:txBody>
      </p:sp>
    </p:spTree>
    <p:extLst>
      <p:ext uri="{BB962C8B-B14F-4D97-AF65-F5344CB8AC3E}">
        <p14:creationId xmlns:p14="http://schemas.microsoft.com/office/powerpoint/2010/main" val="32660111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5F0052-7124-40BA-887F-82BF27488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3F35"/>
                </a:solidFill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73F35"/>
                </a:solidFill>
              </a:defRPr>
            </a:pPr>
            <a:r>
              <a:rPr sz="3000" b="1">
                <a:solidFill>
                  <a:srgbClr val="173F35"/>
                </a:solidFill>
              </a:rPr>
              <a:t>Eight core stories, two stretch stories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7AA238-51B1-4BB5-ADEE-E342C6DD7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227"/>
          </a:solidFill>
          <a:ln xmlns:a="http://schemas.openxmlformats.org/drawingml/2006/main" w="0">
            <a:solidFill>
              <a:srgbClr val="C9A22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906A79-5ED6-429A-8452-6102CE334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>
                <a:solidFill>
                  <a:srgbClr val="5D6B68"/>
                </a:solidFill>
              </a:defRPr>
            </a:defPPr>
          </a:lstStyle>
          <a:p xmlns:a="http://schemas.openxmlformats.org/drawingml/2006/main">
            <a:pPr>
              <a:defRPr sz="825">
                <a:solidFill>
                  <a:srgbClr val="5D6B68"/>
                </a:solidFill>
              </a:defRPr>
            </a:pPr>
            <a:r>
              <a:rPr sz="825">
                <a:solidFill>
                  <a:srgbClr val="5D6B68"/>
                </a:solidFill>
              </a:rPr>
              <a:t>BB-IMS | Group T23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DD7212-CADA-47FB-83EE-8B2715E9C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825">
                <a:solidFill>
                  <a:srgbClr val="5D6B68"/>
                </a:solidFill>
              </a:defRPr>
            </a:defPPr>
          </a:lstStyle>
          <a:p xmlns:a="http://schemas.openxmlformats.org/drawingml/2006/main">
            <a:pPr algn="r">
              <a:defRPr sz="825">
                <a:solidFill>
                  <a:srgbClr val="5D6B68"/>
                </a:solidFill>
              </a:defRPr>
            </a:pPr>
            <a:r>
              <a:rPr sz="825">
                <a:solidFill>
                  <a:srgbClr val="5D6B68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10C42F-19F6-4B71-8A61-9EB877D75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145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F5B4A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F5B4A"/>
                </a:solidFill>
              </a:defRPr>
            </a:pPr>
            <a:r>
              <a:rPr sz="1500" b="1">
                <a:solidFill>
                  <a:srgbClr val="1F5B4A"/>
                </a:solidFill>
              </a:rPr>
              <a:t>Core release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935A73-21DA-4C4B-853D-2B4E49A9A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43125"/>
            <a:ext cx="44767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>
                <a:solidFill>
                  <a:srgbClr val="1D2927"/>
                </a:solidFill>
              </a:defRPr>
            </a:defPPr>
          </a:lstStyle>
          <a:p xmlns:a="http://schemas.openxmlformats.org/drawingml/2006/main">
            <a:pPr>
              <a:lnSpc>
                <a:spcPct val="135000"/>
              </a:lnSpc>
              <a:buNone/>
              <a:defRPr sz="1350">
                <a:solidFill>
                  <a:srgbClr val="1D2927"/>
                </a:solidFill>
              </a:defRPr>
            </a:pPr>
            <a:r>
              <a:rPr sz="1350">
                <a:solidFill>
                  <a:srgbClr val="1D2927"/>
                </a:solidFill>
              </a:rPr>
              <a:t>Catalogue and ISBN entry</a:t>
            </a:r>
          </a:p>
          <a:p xmlns:a="http://schemas.openxmlformats.org/drawingml/2006/main">
            <a:pPr>
              <a:lnSpc>
                <a:spcPct val="135000"/>
              </a:lnSpc>
              <a:buNone/>
              <a:defRPr sz="1350">
                <a:solidFill>
                  <a:srgbClr val="1D2927"/>
                </a:solidFill>
              </a:defRPr>
            </a:pPr>
            <a:r>
              <a:rPr sz="1350">
                <a:solidFill>
                  <a:srgbClr val="1D2927"/>
                </a:solidFill>
              </a:rPr>
              <a:t>Section inventory with empty-list safety</a:t>
            </a:r>
          </a:p>
          <a:p xmlns:a="http://schemas.openxmlformats.org/drawingml/2006/main">
            <a:pPr>
              <a:lnSpc>
                <a:spcPct val="135000"/>
              </a:lnSpc>
              <a:buNone/>
              <a:defRPr sz="1350">
                <a:solidFill>
                  <a:srgbClr val="1D2927"/>
                </a:solidFill>
              </a:defRPr>
            </a:pPr>
            <a:r>
              <a:rPr sz="1350">
                <a:solidFill>
                  <a:srgbClr val="1D2927"/>
                </a:solidFill>
              </a:rPr>
              <a:t>Used-book copy record and sale lock</a:t>
            </a:r>
          </a:p>
          <a:p xmlns:a="http://schemas.openxmlformats.org/drawingml/2006/main">
            <a:pPr>
              <a:lnSpc>
                <a:spcPct val="135000"/>
              </a:lnSpc>
              <a:buNone/>
              <a:defRPr sz="1350">
                <a:solidFill>
                  <a:srgbClr val="1D2927"/>
                </a:solidFill>
              </a:defRPr>
            </a:pPr>
            <a:r>
              <a:rPr sz="1350">
                <a:solidFill>
                  <a:srgbClr val="1D2927"/>
                </a:solidFill>
              </a:rPr>
              <a:t>Special orders and click-and-collect</a:t>
            </a:r>
          </a:p>
          <a:p xmlns:a="http://schemas.openxmlformats.org/drawingml/2006/main">
            <a:pPr>
              <a:lnSpc>
                <a:spcPct val="135000"/>
              </a:lnSpc>
              <a:buNone/>
              <a:defRPr sz="1350">
                <a:solidFill>
                  <a:srgbClr val="1D2927"/>
                </a:solidFill>
              </a:defRPr>
            </a:pPr>
            <a:r>
              <a:rPr sz="1350">
                <a:solidFill>
                  <a:srgbClr val="1D2927"/>
                </a:solidFill>
              </a:rPr>
              <a:t>Supplier import and low stock</a:t>
            </a:r>
          </a:p>
          <a:p xmlns:a="http://schemas.openxmlformats.org/drawingml/2006/main">
            <a:pPr>
              <a:lnSpc>
                <a:spcPct val="135000"/>
              </a:lnSpc>
              <a:buNone/>
              <a:defRPr sz="1350">
                <a:solidFill>
                  <a:srgbClr val="1D2927"/>
                </a:solidFill>
              </a:defRPr>
            </a:pPr>
            <a:r>
              <a:rPr sz="1350">
                <a:solidFill>
                  <a:srgbClr val="1D2927"/>
                </a:solidFill>
              </a:rPr>
              <a:t>Seed data, tests and release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11FAE0-CEAB-49F0-B190-D18981D63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145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C9A227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C9A227"/>
                </a:solidFill>
              </a:defRPr>
            </a:pPr>
            <a:r>
              <a:rPr sz="1500" b="1">
                <a:solidFill>
                  <a:srgbClr val="C9A227"/>
                </a:solidFill>
              </a:rPr>
              <a:t>Stretch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FE932B-6278-4351-8C91-A008FE010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43125"/>
            <a:ext cx="4667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>
                <a:solidFill>
                  <a:srgbClr val="1D2927"/>
                </a:solidFill>
              </a:defRPr>
            </a:defPPr>
          </a:lstStyle>
          <a:p xmlns:a="http://schemas.openxmlformats.org/drawingml/2006/main">
            <a:pPr>
              <a:lnSpc>
                <a:spcPct val="135000"/>
              </a:lnSpc>
              <a:buNone/>
              <a:defRPr sz="1350">
                <a:solidFill>
                  <a:srgbClr val="1D2927"/>
                </a:solidFill>
              </a:defRPr>
            </a:pPr>
            <a:r>
              <a:rPr sz="1350">
                <a:solidFill>
                  <a:srgbClr val="1D2927"/>
                </a:solidFill>
              </a:rPr>
              <a:t>US-BB-05</a:t>
            </a:r>
          </a:p>
          <a:p xmlns:a="http://schemas.openxmlformats.org/drawingml/2006/main">
            <a:pPr>
              <a:lnSpc>
                <a:spcPct val="135000"/>
              </a:lnSpc>
              <a:buNone/>
              <a:defRPr sz="1350">
                <a:solidFill>
                  <a:srgbClr val="1D2927"/>
                </a:solidFill>
              </a:defRPr>
            </a:pPr>
            <a:r>
              <a:rPr sz="1350">
                <a:solidFill>
                  <a:srgbClr val="1D2927"/>
                </a:solidFill>
              </a:rPr>
              <a:t>Combined title and author search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35000"/>
              </a:lnSpc>
              <a:buNone/>
              <a:defRPr sz="1350">
                <a:solidFill>
                  <a:srgbClr val="1D2927"/>
                </a:solidFill>
              </a:defRPr>
            </a:pPr>
            <a:r>
              <a:rPr sz="1350">
                <a:solidFill>
                  <a:srgbClr val="1D2927"/>
                </a:solidFill>
              </a:rPr>
              <a:t>US-BB-08</a:t>
            </a:r>
          </a:p>
          <a:p xmlns:a="http://schemas.openxmlformats.org/drawingml/2006/main">
            <a:pPr>
              <a:lnSpc>
                <a:spcPct val="135000"/>
              </a:lnSpc>
              <a:buNone/>
              <a:defRPr sz="1350">
                <a:solidFill>
                  <a:srgbClr val="1D2927"/>
                </a:solidFill>
              </a:defRPr>
            </a:pPr>
            <a:r>
              <a:rPr sz="1350">
                <a:solidFill>
                  <a:srgbClr val="1D2927"/>
                </a:solidFill>
              </a:rPr>
              <a:t>Scheduled expiry for reservations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51E9AF-A481-4162-8D15-587E2D975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953000"/>
            <a:ext cx="476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5D6B68"/>
                </a:solidFill>
              </a:defRPr>
            </a:defPPr>
          </a:lstStyle>
          <a:p xmlns:a="http://schemas.openxmlformats.org/drawingml/2006/main">
            <a:pPr>
              <a:defRPr sz="1200">
                <a:solidFill>
                  <a:srgbClr val="5D6B68"/>
                </a:solidFill>
              </a:defRPr>
            </a:pPr>
            <a:r>
              <a:rPr sz="1200">
                <a:solidFill>
                  <a:srgbClr val="5D6B68"/>
                </a:solidFill>
              </a:rPr>
              <a:t>US-BB-05 shipped. US-BB-08 remains a documented limitation.</a:t>
            </a:r>
          </a:p>
        </p:txBody>
      </p:sp>
    </p:spTree>
    <p:extLst>
      <p:ext uri="{BB962C8B-B14F-4D97-AF65-F5344CB8AC3E}">
        <p14:creationId xmlns:p14="http://schemas.microsoft.com/office/powerpoint/2010/main" val="128414508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D3017B-FD03-4352-90BB-980840A5F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3F35"/>
                </a:solidFill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73F35"/>
                </a:solidFill>
              </a:defRPr>
            </a:pPr>
            <a:r>
              <a:rPr sz="3000" b="1">
                <a:solidFill>
                  <a:srgbClr val="173F35"/>
                </a:solidFill>
              </a:rPr>
              <a:t>A small system with no runtime dependencies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676B88-190D-4D2C-A6A5-A165B8512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227"/>
          </a:solidFill>
          <a:ln xmlns:a="http://schemas.openxmlformats.org/drawingml/2006/main" w="0">
            <a:solidFill>
              <a:srgbClr val="C9A22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CC4E84-DE13-4B2F-ACC6-4C87C871D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>
                <a:solidFill>
                  <a:srgbClr val="5D6B68"/>
                </a:solidFill>
              </a:defRPr>
            </a:defPPr>
          </a:lstStyle>
          <a:p xmlns:a="http://schemas.openxmlformats.org/drawingml/2006/main">
            <a:pPr>
              <a:defRPr sz="825">
                <a:solidFill>
                  <a:srgbClr val="5D6B68"/>
                </a:solidFill>
              </a:defRPr>
            </a:pPr>
            <a:r>
              <a:rPr sz="825">
                <a:solidFill>
                  <a:srgbClr val="5D6B68"/>
                </a:solidFill>
              </a:rPr>
              <a:t>BB-IMS | Group T23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5C2AA3-DA5B-4C7E-B73F-75992A16C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825">
                <a:solidFill>
                  <a:srgbClr val="5D6B68"/>
                </a:solidFill>
              </a:defRPr>
            </a:defPPr>
          </a:lstStyle>
          <a:p xmlns:a="http://schemas.openxmlformats.org/drawingml/2006/main">
            <a:pPr algn="r">
              <a:defRPr sz="825">
                <a:solidFill>
                  <a:srgbClr val="5D6B68"/>
                </a:solidFill>
              </a:defRPr>
            </a:pPr>
            <a:r>
              <a:rPr sz="825">
                <a:solidFill>
                  <a:srgbClr val="5D6B68"/>
                </a:solidFill>
              </a:rPr>
              <a:t>04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945BB7-9C0F-47CA-BFBB-CDB63D0F9C24}"/>
              </a:ext>
            </a:extLst>
          </p:cNvPr>
          <p:cNvGraphicFramePr/>
          <p:nvPr/>
        </p:nvGraphicFramePr>
        <p:xfrm>
          <a:off xmlns:a="http://schemas.openxmlformats.org/drawingml/2006/main" x="1047750" y="1952625"/>
          <a:ext xmlns:a="http://schemas.openxmlformats.org/drawingml/2006/main" cx="10096500" cy="23812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476500"/>
                <a:gridCol w="7620000"/>
              </a:tblGrid>
              <a:tr h="40005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Layer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0DD"/>
                      </a:solidFill>
                      <a:prstDash val="solid"/>
                    </a:lnL>
                    <a:lnR w="9525">
                      <a:solidFill>
                        <a:srgbClr val="D9E0DD"/>
                      </a:solidFill>
                      <a:prstDash val="solid"/>
                    </a:lnR>
                    <a:lnT w="9525">
                      <a:solidFill>
                        <a:srgbClr val="D9E0DD"/>
                      </a:solidFill>
                      <a:prstDash val="solid"/>
                    </a:lnT>
                    <a:lnB w="9525">
                      <a:solidFill>
                        <a:srgbClr val="D9E0DD"/>
                      </a:solidFill>
                      <a:prstDash val="solid"/>
                    </a:lnB>
                    <a:solidFill>
                      <a:srgbClr val="1F5B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Responsibility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0DD"/>
                      </a:solidFill>
                      <a:prstDash val="solid"/>
                    </a:lnR>
                    <a:lnT w="9525">
                      <a:solidFill>
                        <a:srgbClr val="D9E0DD"/>
                      </a:solidFill>
                      <a:prstDash val="solid"/>
                    </a:lnT>
                    <a:lnB w="9525">
                      <a:solidFill>
                        <a:srgbClr val="D9E0DD"/>
                      </a:solidFill>
                      <a:prstDash val="solid"/>
                    </a:lnB>
                    <a:solidFill>
                      <a:srgbClr val="1F5B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927"/>
                          </a:solidFill>
                        </a:rPr>
                        <a:t>Browser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0DD"/>
                      </a:solidFill>
                      <a:prstDash val="solid"/>
                    </a:lnL>
                    <a:lnR w="9525">
                      <a:solidFill>
                        <a:srgbClr val="D9E0DD"/>
                      </a:solidFill>
                      <a:prstDash val="solid"/>
                    </a:lnR>
                    <a:lnB w="9525">
                      <a:solidFill>
                        <a:srgbClr val="D9E0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927"/>
                          </a:solidFill>
                        </a:rPr>
                        <a:t>Inventory, used-book and order workflows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0DD"/>
                      </a:solidFill>
                      <a:prstDash val="solid"/>
                    </a:lnR>
                    <a:lnB w="9525">
                      <a:solidFill>
                        <a:srgbClr val="D9E0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927"/>
                          </a:solidFill>
                        </a:rPr>
                        <a:t>Node 24 HTTP API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0DD"/>
                      </a:solidFill>
                      <a:prstDash val="solid"/>
                    </a:lnL>
                    <a:lnR w="9525">
                      <a:solidFill>
                        <a:srgbClr val="D9E0DD"/>
                      </a:solidFill>
                      <a:prstDash val="solid"/>
                    </a:lnR>
                    <a:lnB w="9525">
                      <a:solidFill>
                        <a:srgbClr val="D9E0DD"/>
                      </a:solidFill>
                      <a:prstDash val="soli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927"/>
                          </a:solidFill>
                        </a:rPr>
                        <a:t>Validation, state transitions and JSON responses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0DD"/>
                      </a:solidFill>
                      <a:prstDash val="solid"/>
                    </a:lnR>
                    <a:lnB w="9525">
                      <a:solidFill>
                        <a:srgbClr val="D9E0DD"/>
                      </a:solidFill>
                      <a:prstDash val="solid"/>
                    </a:lnB>
                    <a:solidFill>
                      <a:srgbClr val="F1F4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927"/>
                          </a:solidFill>
                        </a:rPr>
                        <a:t>SQLite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0DD"/>
                      </a:solidFill>
                      <a:prstDash val="solid"/>
                    </a:lnL>
                    <a:lnR w="9525">
                      <a:solidFill>
                        <a:srgbClr val="D9E0DD"/>
                      </a:solidFill>
                      <a:prstDash val="solid"/>
                    </a:lnR>
                    <a:lnB w="9525">
                      <a:solidFill>
                        <a:srgbClr val="D9E0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927"/>
                          </a:solidFill>
                        </a:rPr>
                        <a:t>Books, copies, customers, orders and audit trail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0DD"/>
                      </a:solidFill>
                      <a:prstDash val="solid"/>
                    </a:lnR>
                    <a:lnB w="9525">
                      <a:solidFill>
                        <a:srgbClr val="D9E0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598635-CDB4-479F-9205-02153A0AF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577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F5B4A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F5B4A"/>
                </a:solidFill>
              </a:defRPr>
            </a:pPr>
            <a:r>
              <a:rPr sz="1650" b="1">
                <a:solidFill>
                  <a:srgbClr val="1F5B4A"/>
                </a:solidFill>
              </a:rPr>
              <a:t>One repository. One start command. No native package build.</a:t>
            </a:r>
          </a:p>
        </p:txBody>
      </p:sp>
    </p:spTree>
    <p:extLst>
      <p:ext uri="{BB962C8B-B14F-4D97-AF65-F5344CB8AC3E}">
        <p14:creationId xmlns:p14="http://schemas.microsoft.com/office/powerpoint/2010/main" val="170445144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F2C93D-1570-4CA6-988D-B9A6542AF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3F35"/>
                </a:solidFill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73F35"/>
                </a:solidFill>
              </a:defRPr>
            </a:pPr>
            <a:r>
              <a:rPr sz="3000" b="1">
                <a:solidFill>
                  <a:srgbClr val="173F35"/>
                </a:solidFill>
              </a:rPr>
              <a:t>Three sprints, one release goal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8A395C-C001-4BA7-919A-511CDE593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227"/>
          </a:solidFill>
          <a:ln xmlns:a="http://schemas.openxmlformats.org/drawingml/2006/main" w="0">
            <a:solidFill>
              <a:srgbClr val="C9A22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A60041-CC1F-4B36-8EE6-4032B0BE8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>
                <a:solidFill>
                  <a:srgbClr val="5D6B68"/>
                </a:solidFill>
              </a:defRPr>
            </a:defPPr>
          </a:lstStyle>
          <a:p xmlns:a="http://schemas.openxmlformats.org/drawingml/2006/main">
            <a:pPr>
              <a:defRPr sz="825">
                <a:solidFill>
                  <a:srgbClr val="5D6B68"/>
                </a:solidFill>
              </a:defRPr>
            </a:pPr>
            <a:r>
              <a:rPr sz="825">
                <a:solidFill>
                  <a:srgbClr val="5D6B68"/>
                </a:solidFill>
              </a:rPr>
              <a:t>BB-IMS | Group T23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D44457-CA3E-4E04-9BCF-A2BF0A7D6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825">
                <a:solidFill>
                  <a:srgbClr val="5D6B68"/>
                </a:solidFill>
              </a:defRPr>
            </a:defPPr>
          </a:lstStyle>
          <a:p xmlns:a="http://schemas.openxmlformats.org/drawingml/2006/main">
            <a:pPr algn="r">
              <a:defRPr sz="825">
                <a:solidFill>
                  <a:srgbClr val="5D6B68"/>
                </a:solidFill>
              </a:defRPr>
            </a:pPr>
            <a:r>
              <a:rPr sz="825">
                <a:solidFill>
                  <a:srgbClr val="5D6B68"/>
                </a:solidFill>
              </a:rPr>
              <a:t>05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B6D723-EE88-498C-B238-1EECE2EC407E}"/>
              </a:ext>
            </a:extLst>
          </p:cNvPr>
          <p:cNvGraphicFramePr/>
          <p:nvPr/>
        </p:nvGraphicFramePr>
        <p:xfrm>
          <a:off xmlns:a="http://schemas.openxmlformats.org/drawingml/2006/main" x="857250" y="1809750"/>
          <a:ext xmlns:a="http://schemas.openxmlformats.org/drawingml/2006/main" cx="10477500" cy="27622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047750"/>
                <a:gridCol w="5334000"/>
                <a:gridCol w="2667000"/>
                <a:gridCol w="1428750"/>
              </a:tblGrid>
              <a:tr h="40005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Sprint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0DD"/>
                      </a:solidFill>
                      <a:prstDash val="solid"/>
                    </a:lnL>
                    <a:lnR w="9525">
                      <a:solidFill>
                        <a:srgbClr val="D9E0DD"/>
                      </a:solidFill>
                      <a:prstDash val="solid"/>
                    </a:lnR>
                    <a:lnT w="9525">
                      <a:solidFill>
                        <a:srgbClr val="D9E0DD"/>
                      </a:solidFill>
                      <a:prstDash val="solid"/>
                    </a:lnT>
                    <a:lnB w="9525">
                      <a:solidFill>
                        <a:srgbClr val="D9E0DD"/>
                      </a:solidFill>
                      <a:prstDash val="solid"/>
                    </a:lnB>
                    <a:solidFill>
                      <a:srgbClr val="1F5B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Goal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0DD"/>
                      </a:solidFill>
                      <a:prstDash val="solid"/>
                    </a:lnR>
                    <a:lnT w="9525">
                      <a:solidFill>
                        <a:srgbClr val="D9E0DD"/>
                      </a:solidFill>
                      <a:prstDash val="solid"/>
                    </a:lnT>
                    <a:lnB w="9525">
                      <a:solidFill>
                        <a:srgbClr val="D9E0DD"/>
                      </a:solidFill>
                      <a:prstDash val="solid"/>
                    </a:lnB>
                    <a:solidFill>
                      <a:srgbClr val="1F5B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Stories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0DD"/>
                      </a:solidFill>
                      <a:prstDash val="solid"/>
                    </a:lnR>
                    <a:lnT w="9525">
                      <a:solidFill>
                        <a:srgbClr val="D9E0DD"/>
                      </a:solidFill>
                      <a:prstDash val="solid"/>
                    </a:lnT>
                    <a:lnB w="9525">
                      <a:solidFill>
                        <a:srgbClr val="D9E0DD"/>
                      </a:solidFill>
                      <a:prstDash val="solid"/>
                    </a:lnB>
                    <a:solidFill>
                      <a:srgbClr val="1F5B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Points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0DD"/>
                      </a:solidFill>
                      <a:prstDash val="solid"/>
                    </a:lnR>
                    <a:lnT w="9525">
                      <a:solidFill>
                        <a:srgbClr val="D9E0DD"/>
                      </a:solidFill>
                      <a:prstDash val="solid"/>
                    </a:lnT>
                    <a:lnB w="9525">
                      <a:solidFill>
                        <a:srgbClr val="D9E0DD"/>
                      </a:solidFill>
                      <a:prstDash val="solid"/>
                    </a:lnB>
                    <a:solidFill>
                      <a:srgbClr val="1F5B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927"/>
                          </a:solidFill>
                        </a:rPr>
                        <a:t>1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0DD"/>
                      </a:solidFill>
                      <a:prstDash val="solid"/>
                    </a:lnL>
                    <a:lnR w="9525">
                      <a:solidFill>
                        <a:srgbClr val="D9E0DD"/>
                      </a:solidFill>
                      <a:prstDash val="solid"/>
                    </a:lnR>
                    <a:lnB w="9525">
                      <a:solidFill>
                        <a:srgbClr val="D9E0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927"/>
                          </a:solidFill>
                        </a:rPr>
                        <a:t>Catalogue and section inventory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0DD"/>
                      </a:solidFill>
                      <a:prstDash val="solid"/>
                    </a:lnR>
                    <a:lnB w="9525">
                      <a:solidFill>
                        <a:srgbClr val="D9E0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927"/>
                          </a:solidFill>
                        </a:rPr>
                        <a:t>01, 02, 03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0DD"/>
                      </a:solidFill>
                      <a:prstDash val="solid"/>
                    </a:lnR>
                    <a:lnB w="9525">
                      <a:solidFill>
                        <a:srgbClr val="D9E0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927"/>
                          </a:solidFill>
                        </a:rPr>
                        <a:t>15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0DD"/>
                      </a:solidFill>
                      <a:prstDash val="solid"/>
                    </a:lnR>
                    <a:lnB w="9525">
                      <a:solidFill>
                        <a:srgbClr val="D9E0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927"/>
                          </a:solidFill>
                        </a:rPr>
                        <a:t>2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0DD"/>
                      </a:solidFill>
                      <a:prstDash val="solid"/>
                    </a:lnL>
                    <a:lnR w="9525">
                      <a:solidFill>
                        <a:srgbClr val="D9E0DD"/>
                      </a:solidFill>
                      <a:prstDash val="solid"/>
                    </a:lnR>
                    <a:lnB w="9525">
                      <a:solidFill>
                        <a:srgbClr val="D9E0DD"/>
                      </a:solidFill>
                      <a:prstDash val="soli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927"/>
                          </a:solidFill>
                        </a:rPr>
                        <a:t>Orders, reservations and supplier import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0DD"/>
                      </a:solidFill>
                      <a:prstDash val="solid"/>
                    </a:lnR>
                    <a:lnB w="9525">
                      <a:solidFill>
                        <a:srgbClr val="D9E0DD"/>
                      </a:solidFill>
                      <a:prstDash val="soli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927"/>
                          </a:solidFill>
                        </a:rPr>
                        <a:t>04, 06, 07, 09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0DD"/>
                      </a:solidFill>
                      <a:prstDash val="solid"/>
                    </a:lnR>
                    <a:lnB w="9525">
                      <a:solidFill>
                        <a:srgbClr val="D9E0DD"/>
                      </a:solidFill>
                      <a:prstDash val="soli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927"/>
                          </a:solidFill>
                        </a:rPr>
                        <a:t>16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0DD"/>
                      </a:solidFill>
                      <a:prstDash val="solid"/>
                    </a:lnR>
                    <a:lnB w="9525">
                      <a:solidFill>
                        <a:srgbClr val="D9E0DD"/>
                      </a:solidFill>
                      <a:prstDash val="solid"/>
                    </a:lnB>
                    <a:solidFill>
                      <a:srgbClr val="F1F4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927"/>
                          </a:solidFill>
                        </a:rPr>
                        <a:t>3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0DD"/>
                      </a:solidFill>
                      <a:prstDash val="solid"/>
                    </a:lnL>
                    <a:lnR w="9525">
                      <a:solidFill>
                        <a:srgbClr val="D9E0DD"/>
                      </a:solidFill>
                      <a:prstDash val="solid"/>
                    </a:lnR>
                    <a:lnB w="9525">
                      <a:solidFill>
                        <a:srgbClr val="D9E0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927"/>
                          </a:solidFill>
                        </a:rPr>
                        <a:t>Release, regression and handover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0DD"/>
                      </a:solidFill>
                      <a:prstDash val="solid"/>
                    </a:lnR>
                    <a:lnB w="9525">
                      <a:solidFill>
                        <a:srgbClr val="D9E0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927"/>
                          </a:solidFill>
                        </a:rPr>
                        <a:t>05, 08, 10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0DD"/>
                      </a:solidFill>
                      <a:prstDash val="solid"/>
                    </a:lnR>
                    <a:lnB w="9525">
                      <a:solidFill>
                        <a:srgbClr val="D9E0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927"/>
                          </a:solidFill>
                        </a:rPr>
                        <a:t>13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0DD"/>
                      </a:solidFill>
                      <a:prstDash val="solid"/>
                    </a:lnR>
                    <a:lnB w="9525">
                      <a:solidFill>
                        <a:srgbClr val="D9E0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595B35-9F56-41B7-9352-E3042B622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530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>
                <a:solidFill>
                  <a:srgbClr val="5D6B68"/>
                </a:solidFill>
              </a:defRPr>
            </a:defPPr>
          </a:lstStyle>
          <a:p xmlns:a="http://schemas.openxmlformats.org/drawingml/2006/main">
            <a:pPr>
              <a:defRPr sz="1350">
                <a:solidFill>
                  <a:srgbClr val="5D6B68"/>
                </a:solidFill>
              </a:defRPr>
            </a:pPr>
            <a:r>
              <a:rPr sz="1350">
                <a:solidFill>
                  <a:srgbClr val="5D6B68"/>
                </a:solidFill>
              </a:rPr>
              <a:t>42 points across three one-week sprints; PM rotation: 杨世垣, 刘汉, 李宁杰.</a:t>
            </a:r>
          </a:p>
        </p:txBody>
      </p:sp>
    </p:spTree>
    <p:extLst>
      <p:ext uri="{BB962C8B-B14F-4D97-AF65-F5344CB8AC3E}">
        <p14:creationId xmlns:p14="http://schemas.microsoft.com/office/powerpoint/2010/main" val="164816219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F6A7BF-1B9B-43AB-A545-E0FF3629E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3F35"/>
                </a:solidFill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73F35"/>
                </a:solidFill>
              </a:defRPr>
            </a:pPr>
            <a:r>
              <a:rPr sz="3000" b="1">
                <a:solidFill>
                  <a:srgbClr val="173F35"/>
                </a:solidFill>
              </a:rPr>
              <a:t>The process is visible in the tools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920729-4B5D-4A5F-A412-57A4E9AD3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227"/>
          </a:solidFill>
          <a:ln xmlns:a="http://schemas.openxmlformats.org/drawingml/2006/main" w="0">
            <a:solidFill>
              <a:srgbClr val="C9A22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A8E6A0-27C6-4F17-805A-F5BED7BB0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>
                <a:solidFill>
                  <a:srgbClr val="5D6B68"/>
                </a:solidFill>
              </a:defRPr>
            </a:defPPr>
          </a:lstStyle>
          <a:p xmlns:a="http://schemas.openxmlformats.org/drawingml/2006/main">
            <a:pPr>
              <a:defRPr sz="825">
                <a:solidFill>
                  <a:srgbClr val="5D6B68"/>
                </a:solidFill>
              </a:defRPr>
            </a:pPr>
            <a:r>
              <a:rPr sz="825">
                <a:solidFill>
                  <a:srgbClr val="5D6B68"/>
                </a:solidFill>
              </a:rPr>
              <a:t>BB-IMS | Group T23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34584D-95E2-40B8-91F2-E0ED277A4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825">
                <a:solidFill>
                  <a:srgbClr val="5D6B68"/>
                </a:solidFill>
              </a:defRPr>
            </a:defPPr>
          </a:lstStyle>
          <a:p xmlns:a="http://schemas.openxmlformats.org/drawingml/2006/main">
            <a:pPr algn="r">
              <a:defRPr sz="825">
                <a:solidFill>
                  <a:srgbClr val="5D6B68"/>
                </a:solidFill>
              </a:defRPr>
            </a:pPr>
            <a:r>
              <a:rPr sz="825">
                <a:solidFill>
                  <a:srgbClr val="5D6B68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9C2E61-2473-48CE-9F4E-DB089DCF0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09750"/>
            <a:ext cx="59055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>
                <a:solidFill>
                  <a:srgbClr val="1D2927"/>
                </a:solidFill>
              </a:defRPr>
            </a:defPPr>
          </a:lstStyle>
          <a:p xmlns:a="http://schemas.openxmlformats.org/drawingml/2006/main">
            <a:pPr>
              <a:lnSpc>
                <a:spcPct val="145000"/>
              </a:lnSpc>
              <a:buNone/>
              <a:defRPr sz="1500">
                <a:solidFill>
                  <a:srgbClr val="1D2927"/>
                </a:solidFill>
              </a:defRPr>
            </a:pPr>
            <a:r>
              <a:rPr sz="1500">
                <a:solidFill>
                  <a:srgbClr val="1D2927"/>
                </a:solidFill>
              </a:rPr>
              <a:t>Two 15-minute stand-ups each week</a:t>
            </a:r>
          </a:p>
          <a:p xmlns:a="http://schemas.openxmlformats.org/drawingml/2006/main">
            <a:pPr>
              <a:lnSpc>
                <a:spcPct val="145000"/>
              </a:lnSpc>
              <a:buNone/>
              <a:defRPr sz="1500">
                <a:solidFill>
                  <a:srgbClr val="1D2927"/>
                </a:solidFill>
              </a:defRPr>
            </a:pPr>
            <a:r>
              <a:rPr sz="1500">
                <a:solidFill>
                  <a:srgbClr val="1D2927"/>
                </a:solidFill>
              </a:rPr>
              <a:t>Sprint planning, review and retrospective</a:t>
            </a:r>
          </a:p>
          <a:p xmlns:a="http://schemas.openxmlformats.org/drawingml/2006/main">
            <a:pPr>
              <a:lnSpc>
                <a:spcPct val="145000"/>
              </a:lnSpc>
              <a:buNone/>
              <a:defRPr sz="1500">
                <a:solidFill>
                  <a:srgbClr val="1D2927"/>
                </a:solidFill>
              </a:defRPr>
            </a:pPr>
            <a:r>
              <a:rPr sz="1500">
                <a:solidFill>
                  <a:srgbClr val="1D2927"/>
                </a:solidFill>
              </a:rPr>
              <a:t>One feature branch per story</a:t>
            </a:r>
          </a:p>
          <a:p xmlns:a="http://schemas.openxmlformats.org/drawingml/2006/main">
            <a:pPr>
              <a:lnSpc>
                <a:spcPct val="145000"/>
              </a:lnSpc>
              <a:buNone/>
              <a:defRPr sz="1500">
                <a:solidFill>
                  <a:srgbClr val="1D2927"/>
                </a:solidFill>
              </a:defRPr>
            </a:pPr>
            <a:r>
              <a:rPr sz="1500">
                <a:solidFill>
                  <a:srgbClr val="1D2927"/>
                </a:solidFill>
              </a:rPr>
              <a:t>One non-author approval before merge</a:t>
            </a:r>
          </a:p>
          <a:p xmlns:a="http://schemas.openxmlformats.org/drawingml/2006/main">
            <a:pPr>
              <a:lnSpc>
                <a:spcPct val="145000"/>
              </a:lnSpc>
              <a:buNone/>
              <a:defRPr sz="1500">
                <a:solidFill>
                  <a:srgbClr val="1D2927"/>
                </a:solidFill>
              </a:defRPr>
            </a:pPr>
            <a:r>
              <a:rPr sz="1500">
                <a:solidFill>
                  <a:srgbClr val="1D2927"/>
                </a:solidFill>
              </a:rPr>
              <a:t>CI must pass before merge</a:t>
            </a:r>
          </a:p>
          <a:p xmlns:a="http://schemas.openxmlformats.org/drawingml/2006/main">
            <a:pPr>
              <a:lnSpc>
                <a:spcPct val="145000"/>
              </a:lnSpc>
              <a:buNone/>
              <a:defRPr sz="1500">
                <a:solidFill>
                  <a:srgbClr val="1D2927"/>
                </a:solidFill>
              </a:defRPr>
            </a:pPr>
            <a:r>
              <a:rPr sz="1500">
                <a:solidFill>
                  <a:srgbClr val="1D2927"/>
                </a:solidFill>
              </a:rPr>
              <a:t>Evidence linked in the traceability matrix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0172F1-A474-4286-B4CA-7846AAC68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F5B4A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F5B4A"/>
                </a:solidFill>
              </a:defRPr>
            </a:pPr>
            <a:r>
              <a:rPr sz="1500" b="1">
                <a:solidFill>
                  <a:srgbClr val="1F5B4A"/>
                </a:solidFill>
              </a:rPr>
              <a:t>Definition of Done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8E978A-4AE4-40D6-ADDF-EB6D9052A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238375"/>
            <a:ext cx="37147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1D2927"/>
                </a:solidFill>
              </a:defRPr>
            </a:defPPr>
          </a:lstStyle>
          <a:p xmlns:a="http://schemas.openxmlformats.org/drawingml/2006/main">
            <a:pPr>
              <a:lnSpc>
                <a:spcPct val="140000"/>
              </a:lnSpc>
              <a:buNone/>
              <a:defRPr sz="1275">
                <a:solidFill>
                  <a:srgbClr val="1D2927"/>
                </a:solidFill>
              </a:defRPr>
            </a:pPr>
            <a:r>
              <a:rPr sz="1275">
                <a:solidFill>
                  <a:srgbClr val="1D2927"/>
                </a:solidFill>
              </a:rPr>
              <a:t>Acceptance criteria demonstrated</a:t>
            </a:r>
          </a:p>
          <a:p xmlns:a="http://schemas.openxmlformats.org/drawingml/2006/main">
            <a:pPr>
              <a:lnSpc>
                <a:spcPct val="140000"/>
              </a:lnSpc>
              <a:buNone/>
              <a:defRPr sz="1275">
                <a:solidFill>
                  <a:srgbClr val="1D2927"/>
                </a:solidFill>
              </a:defRPr>
            </a:pPr>
            <a:r>
              <a:rPr sz="1275">
                <a:solidFill>
                  <a:srgbClr val="1D2927"/>
                </a:solidFill>
              </a:rPr>
              <a:t>Automated test or recorded reason</a:t>
            </a:r>
          </a:p>
          <a:p xmlns:a="http://schemas.openxmlformats.org/drawingml/2006/main">
            <a:pPr>
              <a:lnSpc>
                <a:spcPct val="140000"/>
              </a:lnSpc>
              <a:buNone/>
              <a:defRPr sz="1275">
                <a:solidFill>
                  <a:srgbClr val="1D2927"/>
                </a:solidFill>
              </a:defRPr>
            </a:pPr>
            <a:r>
              <a:rPr sz="1275">
                <a:solidFill>
                  <a:srgbClr val="1D2927"/>
                </a:solidFill>
              </a:rPr>
              <a:t>Non-author review</a:t>
            </a:r>
          </a:p>
          <a:p xmlns:a="http://schemas.openxmlformats.org/drawingml/2006/main">
            <a:pPr>
              <a:lnSpc>
                <a:spcPct val="140000"/>
              </a:lnSpc>
              <a:buNone/>
              <a:defRPr sz="1275">
                <a:solidFill>
                  <a:srgbClr val="1D2927"/>
                </a:solidFill>
              </a:defRPr>
            </a:pPr>
            <a:r>
              <a:rPr sz="1275">
                <a:solidFill>
                  <a:srgbClr val="1D2927"/>
                </a:solidFill>
              </a:rPr>
              <a:t>Merged to develop</a:t>
            </a:r>
          </a:p>
          <a:p xmlns:a="http://schemas.openxmlformats.org/drawingml/2006/main">
            <a:pPr>
              <a:lnSpc>
                <a:spcPct val="140000"/>
              </a:lnSpc>
              <a:buNone/>
              <a:defRPr sz="1275">
                <a:solidFill>
                  <a:srgbClr val="1D2927"/>
                </a:solidFill>
              </a:defRPr>
            </a:pPr>
            <a:r>
              <a:rPr sz="1275">
                <a:solidFill>
                  <a:srgbClr val="1D2927"/>
                </a:solidFill>
              </a:rPr>
              <a:t>Traceability updated</a:t>
            </a:r>
          </a:p>
          <a:p xmlns:a="http://schemas.openxmlformats.org/drawingml/2006/main">
            <a:pPr>
              <a:lnSpc>
                <a:spcPct val="140000"/>
              </a:lnSpc>
              <a:buNone/>
              <a:defRPr sz="1275">
                <a:solidFill>
                  <a:srgbClr val="1D2927"/>
                </a:solidFill>
              </a:defRPr>
            </a:pPr>
            <a:r>
              <a:rPr sz="1275">
                <a:solidFill>
                  <a:srgbClr val="1D2927"/>
                </a:solidFill>
              </a:rPr>
              <a:t>No P0 or P1 defect</a:t>
            </a:r>
          </a:p>
        </p:txBody>
      </p:sp>
    </p:spTree>
    <p:extLst>
      <p:ext uri="{BB962C8B-B14F-4D97-AF65-F5344CB8AC3E}">
        <p14:creationId xmlns:p14="http://schemas.microsoft.com/office/powerpoint/2010/main" val="4073703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4DFD00-BA21-4855-822D-B274F5ECC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3F35"/>
                </a:solidFill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73F35"/>
                </a:solidFill>
              </a:defRPr>
            </a:pPr>
            <a:r>
              <a:rPr sz="3000" b="1">
                <a:solidFill>
                  <a:srgbClr val="173F35"/>
                </a:solidFill>
              </a:rPr>
              <a:t>Demo path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F9D9C2-5F8D-48CA-A6B1-E3A2FE331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227"/>
          </a:solidFill>
          <a:ln xmlns:a="http://schemas.openxmlformats.org/drawingml/2006/main" w="0">
            <a:solidFill>
              <a:srgbClr val="C9A22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A09CD4-B960-4632-A843-DF13FF080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>
                <a:solidFill>
                  <a:srgbClr val="5D6B68"/>
                </a:solidFill>
              </a:defRPr>
            </a:defPPr>
          </a:lstStyle>
          <a:p xmlns:a="http://schemas.openxmlformats.org/drawingml/2006/main">
            <a:pPr>
              <a:defRPr sz="825">
                <a:solidFill>
                  <a:srgbClr val="5D6B68"/>
                </a:solidFill>
              </a:defRPr>
            </a:pPr>
            <a:r>
              <a:rPr sz="825">
                <a:solidFill>
                  <a:srgbClr val="5D6B68"/>
                </a:solidFill>
              </a:rPr>
              <a:t>BB-IMS | Group T23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FE8C16-F856-4CC7-A197-CD758D348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825">
                <a:solidFill>
                  <a:srgbClr val="5D6B68"/>
                </a:solidFill>
              </a:defRPr>
            </a:defPPr>
          </a:lstStyle>
          <a:p xmlns:a="http://schemas.openxmlformats.org/drawingml/2006/main">
            <a:pPr algn="r">
              <a:defRPr sz="825">
                <a:solidFill>
                  <a:srgbClr val="5D6B68"/>
                </a:solidFill>
              </a:defRPr>
            </a:pPr>
            <a:r>
              <a:rPr sz="825">
                <a:solidFill>
                  <a:srgbClr val="5D6B68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9AA4BE-E443-4A87-B205-585F35EC9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14500"/>
            <a:ext cx="1000125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>
                <a:solidFill>
                  <a:srgbClr val="1D2927"/>
                </a:solidFill>
              </a:defRPr>
            </a:defPPr>
          </a:lstStyle>
          <a:p xmlns:a="http://schemas.openxmlformats.org/drawingml/2006/main">
            <a:pPr>
              <a:lnSpc>
                <a:spcPct val="135000"/>
              </a:lnSpc>
              <a:buNone/>
              <a:defRPr sz="1650">
                <a:solidFill>
                  <a:srgbClr val="1D2927"/>
                </a:solidFill>
              </a:defRPr>
            </a:pPr>
            <a:r>
              <a:rPr sz="1650">
                <a:solidFill>
                  <a:srgbClr val="1D2927"/>
                </a:solidFill>
              </a:rPr>
              <a:t>1  Filter Fiction and show the empty-section response.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35000"/>
              </a:lnSpc>
              <a:buNone/>
              <a:defRPr sz="1650">
                <a:solidFill>
                  <a:srgbClr val="1D2927"/>
                </a:solidFill>
              </a:defRPr>
            </a:pPr>
            <a:r>
              <a:rPr sz="1650">
                <a:solidFill>
                  <a:srgbClr val="1D2927"/>
                </a:solidFill>
              </a:rPr>
              <a:t>2  Sell one used copy. Try again and show the rejection.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35000"/>
              </a:lnSpc>
              <a:buNone/>
              <a:defRPr sz="1650">
                <a:solidFill>
                  <a:srgbClr val="1D2927"/>
                </a:solidFill>
              </a:defRPr>
            </a:pPr>
            <a:r>
              <a:rPr sz="1650">
                <a:solidFill>
                  <a:srgbClr val="1D2927"/>
                </a:solidFill>
              </a:rPr>
              <a:t>3  Create a special order and show PENDING.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35000"/>
              </a:lnSpc>
              <a:buNone/>
              <a:defRPr sz="1650">
                <a:solidFill>
                  <a:srgbClr val="1D2927"/>
                </a:solidFill>
              </a:defRPr>
            </a:pPr>
            <a:r>
              <a:rPr sz="1650">
                <a:solidFill>
                  <a:srgbClr val="1D2927"/>
                </a:solidFill>
              </a:rPr>
              <a:t>4  Reserve an in-stock book and show the stock hold.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C25173-0F5B-4791-9234-687A9A705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76875"/>
            <a:ext cx="1000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i="1">
                <a:solidFill>
                  <a:srgbClr val="5D6B68"/>
                </a:solidFill>
              </a:defRPr>
            </a:defPPr>
          </a:lstStyle>
          <a:p xmlns:a="http://schemas.openxmlformats.org/drawingml/2006/main">
            <a:pPr>
              <a:defRPr sz="1200" i="1">
                <a:solidFill>
                  <a:srgbClr val="5D6B68"/>
                </a:solidFill>
              </a:defRPr>
            </a:pPr>
            <a:r>
              <a:rPr sz="1200" i="1">
                <a:solidFill>
                  <a:srgbClr val="5D6B68"/>
                </a:solidFill>
              </a:rPr>
              <a:t>If the browser fails, show the saved API responses and test output.</a:t>
            </a:r>
          </a:p>
        </p:txBody>
      </p:sp>
    </p:spTree>
    <p:extLst>
      <p:ext uri="{BB962C8B-B14F-4D97-AF65-F5344CB8AC3E}">
        <p14:creationId xmlns:p14="http://schemas.microsoft.com/office/powerpoint/2010/main" val="155626380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2B9284-1508-4310-9D20-A9DD9FDF0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3F35"/>
                </a:solidFill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73F35"/>
                </a:solidFill>
              </a:defRPr>
            </a:pPr>
            <a:r>
              <a:rPr sz="3000" b="1">
                <a:solidFill>
                  <a:srgbClr val="173F35"/>
                </a:solidFill>
              </a:rPr>
              <a:t>Testing found a real boundary defect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BC482D-EDBF-4CAD-9DE4-BCF2E2EDE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227"/>
          </a:solidFill>
          <a:ln xmlns:a="http://schemas.openxmlformats.org/drawingml/2006/main" w="0">
            <a:solidFill>
              <a:srgbClr val="C9A22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679912-5B22-4196-9E85-24B986847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>
                <a:solidFill>
                  <a:srgbClr val="5D6B68"/>
                </a:solidFill>
              </a:defRPr>
            </a:defPPr>
          </a:lstStyle>
          <a:p xmlns:a="http://schemas.openxmlformats.org/drawingml/2006/main">
            <a:pPr>
              <a:defRPr sz="825">
                <a:solidFill>
                  <a:srgbClr val="5D6B68"/>
                </a:solidFill>
              </a:defRPr>
            </a:pPr>
            <a:r>
              <a:rPr sz="825">
                <a:solidFill>
                  <a:srgbClr val="5D6B68"/>
                </a:solidFill>
              </a:rPr>
              <a:t>BB-IMS | Group T23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4EDF07-013D-4D29-B7B4-AD2F726AF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825">
                <a:solidFill>
                  <a:srgbClr val="5D6B68"/>
                </a:solidFill>
              </a:defRPr>
            </a:defPPr>
          </a:lstStyle>
          <a:p xmlns:a="http://schemas.openxmlformats.org/drawingml/2006/main">
            <a:pPr algn="r">
              <a:defRPr sz="825">
                <a:solidFill>
                  <a:srgbClr val="5D6B68"/>
                </a:solidFill>
              </a:defRPr>
            </a:pPr>
            <a:r>
              <a:rPr sz="825">
                <a:solidFill>
                  <a:srgbClr val="5D6B68"/>
                </a:solidFill>
              </a:rPr>
              <a:t>08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0566A4-74BF-495E-B4F9-472F8BD38D64}"/>
              </a:ext>
            </a:extLst>
          </p:cNvPr>
          <p:cNvGraphicFramePr/>
          <p:nvPr/>
        </p:nvGraphicFramePr>
        <p:xfrm>
          <a:off xmlns:a="http://schemas.openxmlformats.org/drawingml/2006/main" x="857250" y="1809750"/>
          <a:ext xmlns:a="http://schemas.openxmlformats.org/drawingml/2006/main" cx="10477500" cy="26670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857500"/>
                <a:gridCol w="2381250"/>
                <a:gridCol w="5238750"/>
              </a:tblGrid>
              <a:tr h="40005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Measure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0DD"/>
                      </a:solidFill>
                      <a:prstDash val="solid"/>
                    </a:lnL>
                    <a:lnR w="9525">
                      <a:solidFill>
                        <a:srgbClr val="D9E0DD"/>
                      </a:solidFill>
                      <a:prstDash val="solid"/>
                    </a:lnR>
                    <a:lnT w="9525">
                      <a:solidFill>
                        <a:srgbClr val="D9E0DD"/>
                      </a:solidFill>
                      <a:prstDash val="solid"/>
                    </a:lnT>
                    <a:lnB w="9525">
                      <a:solidFill>
                        <a:srgbClr val="D9E0DD"/>
                      </a:solidFill>
                      <a:prstDash val="solid"/>
                    </a:lnB>
                    <a:solidFill>
                      <a:srgbClr val="1F5B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Result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0DD"/>
                      </a:solidFill>
                      <a:prstDash val="solid"/>
                    </a:lnR>
                    <a:lnT w="9525">
                      <a:solidFill>
                        <a:srgbClr val="D9E0DD"/>
                      </a:solidFill>
                      <a:prstDash val="solid"/>
                    </a:lnT>
                    <a:lnB w="9525">
                      <a:solidFill>
                        <a:srgbClr val="D9E0DD"/>
                      </a:solidFill>
                      <a:prstDash val="solid"/>
                    </a:lnB>
                    <a:solidFill>
                      <a:srgbClr val="1F5B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Evidence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0DD"/>
                      </a:solidFill>
                      <a:prstDash val="solid"/>
                    </a:lnR>
                    <a:lnT w="9525">
                      <a:solidFill>
                        <a:srgbClr val="D9E0DD"/>
                      </a:solidFill>
                      <a:prstDash val="solid"/>
                    </a:lnT>
                    <a:lnB w="9525">
                      <a:solidFill>
                        <a:srgbClr val="D9E0DD"/>
                      </a:solidFill>
                      <a:prstDash val="solid"/>
                    </a:lnB>
                    <a:solidFill>
                      <a:srgbClr val="1F5B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927"/>
                          </a:solidFill>
                        </a:rPr>
                        <a:t>Automated tests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0DD"/>
                      </a:solidFill>
                      <a:prstDash val="solid"/>
                    </a:lnL>
                    <a:lnR w="9525">
                      <a:solidFill>
                        <a:srgbClr val="D9E0DD"/>
                      </a:solidFill>
                      <a:prstDash val="solid"/>
                    </a:lnR>
                    <a:lnB w="9525">
                      <a:solidFill>
                        <a:srgbClr val="D9E0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927"/>
                          </a:solidFill>
                        </a:rPr>
                        <a:t>11 passed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0DD"/>
                      </a:solidFill>
                      <a:prstDash val="solid"/>
                    </a:lnR>
                    <a:lnB w="9525">
                      <a:solidFill>
                        <a:srgbClr val="D9E0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927"/>
                          </a:solidFill>
                        </a:rPr>
                        <a:t>npm test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0DD"/>
                      </a:solidFill>
                      <a:prstDash val="solid"/>
                    </a:lnR>
                    <a:lnB w="9525">
                      <a:solidFill>
                        <a:srgbClr val="D9E0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927"/>
                          </a:solidFill>
                        </a:rPr>
                        <a:t>Test cases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0DD"/>
                      </a:solidFill>
                      <a:prstDash val="solid"/>
                    </a:lnL>
                    <a:lnR w="9525">
                      <a:solidFill>
                        <a:srgbClr val="D9E0DD"/>
                      </a:solidFill>
                      <a:prstDash val="solid"/>
                    </a:lnR>
                    <a:lnB w="9525">
                      <a:solidFill>
                        <a:srgbClr val="D9E0DD"/>
                      </a:solidFill>
                      <a:prstDash val="soli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927"/>
                          </a:solidFill>
                        </a:rPr>
                        <a:t>24 recorded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0DD"/>
                      </a:solidFill>
                      <a:prstDash val="solid"/>
                    </a:lnR>
                    <a:lnB w="9525">
                      <a:solidFill>
                        <a:srgbClr val="D9E0DD"/>
                      </a:solidFill>
                      <a:prstDash val="soli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927"/>
                          </a:solidFill>
                        </a:rPr>
                        <a:t>Test Cases sheet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0DD"/>
                      </a:solidFill>
                      <a:prstDash val="solid"/>
                    </a:lnR>
                    <a:lnB w="9525">
                      <a:solidFill>
                        <a:srgbClr val="D9E0DD"/>
                      </a:solidFill>
                      <a:prstDash val="solid"/>
                    </a:lnB>
                    <a:solidFill>
                      <a:srgbClr val="F1F4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927"/>
                          </a:solidFill>
                        </a:rPr>
                        <a:t>Passed cases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0DD"/>
                      </a:solidFill>
                      <a:prstDash val="solid"/>
                    </a:lnL>
                    <a:lnR w="9525">
                      <a:solidFill>
                        <a:srgbClr val="D9E0DD"/>
                      </a:solidFill>
                      <a:prstDash val="solid"/>
                    </a:lnR>
                    <a:lnB w="9525">
                      <a:solidFill>
                        <a:srgbClr val="D9E0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927"/>
                          </a:solidFill>
                        </a:rPr>
                        <a:t>22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0DD"/>
                      </a:solidFill>
                      <a:prstDash val="solid"/>
                    </a:lnR>
                    <a:lnB w="9525">
                      <a:solidFill>
                        <a:srgbClr val="D9E0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927"/>
                          </a:solidFill>
                        </a:rPr>
                        <a:t>Includes one retest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0DD"/>
                      </a:solidFill>
                      <a:prstDash val="solid"/>
                    </a:lnR>
                    <a:lnB w="9525">
                      <a:solidFill>
                        <a:srgbClr val="D9E0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927"/>
                          </a:solidFill>
                        </a:rPr>
                        <a:t>Open defects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0DD"/>
                      </a:solidFill>
                      <a:prstDash val="solid"/>
                    </a:lnL>
                    <a:lnR w="9525">
                      <a:solidFill>
                        <a:srgbClr val="D9E0DD"/>
                      </a:solidFill>
                      <a:prstDash val="solid"/>
                    </a:lnR>
                    <a:lnB w="9525">
                      <a:solidFill>
                        <a:srgbClr val="D9E0DD"/>
                      </a:solidFill>
                      <a:prstDash val="soli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927"/>
                          </a:solidFill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0DD"/>
                      </a:solidFill>
                      <a:prstDash val="solid"/>
                    </a:lnR>
                    <a:lnB w="9525">
                      <a:solidFill>
                        <a:srgbClr val="D9E0DD"/>
                      </a:solidFill>
                      <a:prstDash val="soli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2927"/>
                          </a:solidFill>
                        </a:rPr>
                        <a:t>DEF-01 closed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0DD"/>
                      </a:solidFill>
                      <a:prstDash val="solid"/>
                    </a:lnR>
                    <a:lnB w="9525">
                      <a:solidFill>
                        <a:srgbClr val="D9E0DD"/>
                      </a:solidFill>
                      <a:prstDash val="solid"/>
                    </a:lnB>
                    <a:solidFill>
                      <a:srgbClr val="F1F4F2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60FEE7-38BE-483D-A5F6-88672ADB8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5300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F5B4A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F5B4A"/>
                </a:solidFill>
              </a:defRPr>
            </a:pPr>
            <a:r>
              <a:rPr sz="1350" b="1">
                <a:solidFill>
                  <a:srgbClr val="1F5B4A"/>
                </a:solidFill>
              </a:rPr>
              <a:t>DEF-01: quantity 0 was converted to 1. Fixed with positive-integer validation and a regression test.</a:t>
            </a:r>
          </a:p>
        </p:txBody>
      </p:sp>
    </p:spTree>
    <p:extLst>
      <p:ext uri="{BB962C8B-B14F-4D97-AF65-F5344CB8AC3E}">
        <p14:creationId xmlns:p14="http://schemas.microsoft.com/office/powerpoint/2010/main" val="119634385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126A58-98CB-4881-AA07-E235B4D34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3F35"/>
                </a:solidFill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73F35"/>
                </a:solidFill>
              </a:defRPr>
            </a:pPr>
            <a:r>
              <a:rPr sz="3000" b="1">
                <a:solidFill>
                  <a:srgbClr val="173F35"/>
                </a:solidFill>
              </a:rPr>
              <a:t>Release and handover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BE27AB-B9A8-49F2-AAB4-4DD207AB5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227"/>
          </a:solidFill>
          <a:ln xmlns:a="http://schemas.openxmlformats.org/drawingml/2006/main" w="0">
            <a:solidFill>
              <a:srgbClr val="C9A22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4CF298-9A2B-4A72-A844-D7004D641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>
                <a:solidFill>
                  <a:srgbClr val="5D6B68"/>
                </a:solidFill>
              </a:defRPr>
            </a:defPPr>
          </a:lstStyle>
          <a:p xmlns:a="http://schemas.openxmlformats.org/drawingml/2006/main">
            <a:pPr>
              <a:defRPr sz="825">
                <a:solidFill>
                  <a:srgbClr val="5D6B68"/>
                </a:solidFill>
              </a:defRPr>
            </a:pPr>
            <a:r>
              <a:rPr sz="825">
                <a:solidFill>
                  <a:srgbClr val="5D6B68"/>
                </a:solidFill>
              </a:rPr>
              <a:t>BB-IMS | Group T23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540B24-C20D-493A-A6BD-9B98A000C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825">
                <a:solidFill>
                  <a:srgbClr val="5D6B68"/>
                </a:solidFill>
              </a:defRPr>
            </a:defPPr>
          </a:lstStyle>
          <a:p xmlns:a="http://schemas.openxmlformats.org/drawingml/2006/main">
            <a:pPr algn="r">
              <a:defRPr sz="825">
                <a:solidFill>
                  <a:srgbClr val="5D6B68"/>
                </a:solidFill>
              </a:defRPr>
            </a:pPr>
            <a:r>
              <a:rPr sz="825">
                <a:solidFill>
                  <a:srgbClr val="5D6B68"/>
                </a:solidFill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59EE3D-11B0-4639-8C87-009F7BADB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62125"/>
            <a:ext cx="6286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>
                <a:solidFill>
                  <a:srgbClr val="1D2927"/>
                </a:solidFill>
              </a:defRPr>
            </a:defPPr>
          </a:lstStyle>
          <a:p xmlns:a="http://schemas.openxmlformats.org/drawingml/2006/main">
            <a:pPr>
              <a:lnSpc>
                <a:spcPct val="145000"/>
              </a:lnSpc>
              <a:buNone/>
              <a:defRPr sz="1575">
                <a:solidFill>
                  <a:srgbClr val="1D2927"/>
                </a:solidFill>
              </a:defRPr>
            </a:pPr>
            <a:r>
              <a:rPr sz="1575">
                <a:solidFill>
                  <a:srgbClr val="1D2927"/>
                </a:solidFill>
              </a:rPr>
              <a:t>v0.2.0 release candidate</a:t>
            </a:r>
          </a:p>
          <a:p xmlns:a="http://schemas.openxmlformats.org/drawingml/2006/main">
            <a:pPr>
              <a:lnSpc>
                <a:spcPct val="145000"/>
              </a:lnSpc>
              <a:buNone/>
              <a:defRPr sz="1575">
                <a:solidFill>
                  <a:srgbClr val="1D2927"/>
                </a:solidFill>
              </a:defRPr>
            </a:pPr>
            <a:r>
              <a:rPr sz="1575">
                <a:solidFill>
                  <a:srgbClr val="1D2927"/>
                </a:solidFill>
              </a:rPr>
              <a:t>Clean checkout starts with npm start</a:t>
            </a:r>
          </a:p>
          <a:p xmlns:a="http://schemas.openxmlformats.org/drawingml/2006/main">
            <a:pPr>
              <a:lnSpc>
                <a:spcPct val="145000"/>
              </a:lnSpc>
              <a:buNone/>
              <a:defRPr sz="1575">
                <a:solidFill>
                  <a:srgbClr val="1D2927"/>
                </a:solidFill>
              </a:defRPr>
            </a:pPr>
            <a:r>
              <a:rPr sz="1575">
                <a:solidFill>
                  <a:srgbClr val="1D2927"/>
                </a:solidFill>
              </a:rPr>
              <a:t>Health check returns HTTP 200</a:t>
            </a:r>
          </a:p>
          <a:p xmlns:a="http://schemas.openxmlformats.org/drawingml/2006/main">
            <a:pPr>
              <a:lnSpc>
                <a:spcPct val="145000"/>
              </a:lnSpc>
              <a:buNone/>
              <a:defRPr sz="1575">
                <a:solidFill>
                  <a:srgbClr val="1D2927"/>
                </a:solidFill>
              </a:defRPr>
            </a:pPr>
            <a:r>
              <a:rPr sz="1575">
                <a:solidFill>
                  <a:srgbClr val="1D2927"/>
                </a:solidFill>
              </a:rPr>
              <a:t>README covers start, test and reset</a:t>
            </a:r>
          </a:p>
          <a:p xmlns:a="http://schemas.openxmlformats.org/drawingml/2006/main">
            <a:pPr>
              <a:lnSpc>
                <a:spcPct val="145000"/>
              </a:lnSpc>
              <a:buNone/>
              <a:defRPr sz="1575">
                <a:solidFill>
                  <a:srgbClr val="1D2927"/>
                </a:solidFill>
              </a:defRPr>
            </a:pPr>
            <a:r>
              <a:rPr sz="1575">
                <a:solidFill>
                  <a:srgbClr val="1D2927"/>
                </a:solidFill>
              </a:rPr>
              <a:t>Known limitation: scheduled expiry is stretch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1FE880-DF45-4472-9E82-A85AAABDB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8097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F5B4A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F5B4A"/>
                </a:solidFill>
              </a:defRPr>
            </a:pPr>
            <a:r>
              <a:rPr sz="1350" b="1">
                <a:solidFill>
                  <a:srgbClr val="1F5B4A"/>
                </a:solidFill>
              </a:rPr>
              <a:t>Repository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1F06FA-34C0-41F0-AAFA-0625A06C1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907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5D6B68"/>
                </a:solidFill>
              </a:defRPr>
            </a:defPPr>
          </a:lstStyle>
          <a:p xmlns:a="http://schemas.openxmlformats.org/drawingml/2006/main">
            <a:pPr>
              <a:defRPr sz="1275">
                <a:solidFill>
                  <a:srgbClr val="5D6B68"/>
                </a:solidFill>
              </a:defRPr>
            </a:pPr>
            <a:r>
              <a:rPr sz="1275">
                <a:solidFill>
                  <a:srgbClr val="5D6B68"/>
                </a:solidFill>
              </a:rPr>
              <a:t>github.com/hanx8512/Bellbird-Books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FFB24A-6C6A-4BC4-99BC-A15518C8F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9527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F5B4A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F5B4A"/>
                </a:solidFill>
              </a:defRPr>
            </a:pPr>
            <a:r>
              <a:rPr sz="1350" b="1">
                <a:solidFill>
                  <a:srgbClr val="1F5B4A"/>
                </a:solidFill>
              </a:rPr>
              <a:t>Release evidence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EC2510-B7B8-4F2E-919A-6C0F46436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333750"/>
            <a:ext cx="3143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1D2927"/>
                </a:solidFill>
              </a:defRPr>
            </a:defPPr>
          </a:lstStyle>
          <a:p xmlns:a="http://schemas.openxmlformats.org/drawingml/2006/main">
            <a:pPr>
              <a:lnSpc>
                <a:spcPct val="135000"/>
              </a:lnSpc>
              <a:buNone/>
              <a:defRPr sz="1200">
                <a:solidFill>
                  <a:srgbClr val="1D2927"/>
                </a:solidFill>
              </a:defRPr>
            </a:pPr>
            <a:r>
              <a:rPr sz="1200">
                <a:solidFill>
                  <a:srgbClr val="1D2927"/>
                </a:solidFill>
              </a:rPr>
              <a:t>CI run</a:t>
            </a:r>
          </a:p>
          <a:p xmlns:a="http://schemas.openxmlformats.org/drawingml/2006/main">
            <a:pPr>
              <a:lnSpc>
                <a:spcPct val="135000"/>
              </a:lnSpc>
              <a:buNone/>
              <a:defRPr sz="1200">
                <a:solidFill>
                  <a:srgbClr val="1D2927"/>
                </a:solidFill>
              </a:defRPr>
            </a:pPr>
            <a:r>
              <a:rPr sz="1200">
                <a:solidFill>
                  <a:srgbClr val="1D2927"/>
                </a:solidFill>
              </a:rPr>
              <a:t>Release tag</a:t>
            </a:r>
          </a:p>
          <a:p xmlns:a="http://schemas.openxmlformats.org/drawingml/2006/main">
            <a:pPr>
              <a:lnSpc>
                <a:spcPct val="135000"/>
              </a:lnSpc>
              <a:buNone/>
              <a:defRPr sz="1200">
                <a:solidFill>
                  <a:srgbClr val="1D2927"/>
                </a:solidFill>
              </a:defRPr>
            </a:pPr>
            <a:r>
              <a:rPr sz="1200">
                <a:solidFill>
                  <a:srgbClr val="1D2927"/>
                </a:solidFill>
              </a:rPr>
              <a:t>Browser screenshots</a:t>
            </a:r>
          </a:p>
          <a:p xmlns:a="http://schemas.openxmlformats.org/drawingml/2006/main">
            <a:pPr>
              <a:lnSpc>
                <a:spcPct val="135000"/>
              </a:lnSpc>
              <a:buNone/>
              <a:defRPr sz="1200">
                <a:solidFill>
                  <a:srgbClr val="1D2927"/>
                </a:solidFill>
              </a:defRPr>
            </a:pPr>
            <a:r>
              <a:rPr sz="1200">
                <a:solidFill>
                  <a:srgbClr val="1D2927"/>
                </a:solidFill>
              </a:rPr>
              <a:t>Acceptance form</a:t>
            </a:r>
          </a:p>
        </p:txBody>
      </p:sp>
    </p:spTree>
    <p:extLst>
      <p:ext uri="{BB962C8B-B14F-4D97-AF65-F5344CB8AC3E}">
        <p14:creationId xmlns:p14="http://schemas.microsoft.com/office/powerpoint/2010/main" val="83063073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637ADB-9323-420B-9533-EFF84F907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3F35"/>
                </a:solidFill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73F35"/>
                </a:solidFill>
              </a:defRPr>
            </a:pPr>
            <a:r>
              <a:rPr sz="3000" b="1">
                <a:solidFill>
                  <a:srgbClr val="173F35"/>
                </a:solidFill>
              </a:rPr>
              <a:t>What the release proves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361A73-2C6A-4853-BE7B-146D4FE75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227"/>
          </a:solidFill>
          <a:ln xmlns:a="http://schemas.openxmlformats.org/drawingml/2006/main" w="0">
            <a:solidFill>
              <a:srgbClr val="C9A22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189246-F06A-49E0-82B7-5E8274626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>
                <a:solidFill>
                  <a:srgbClr val="5D6B68"/>
                </a:solidFill>
              </a:defRPr>
            </a:defPPr>
          </a:lstStyle>
          <a:p xmlns:a="http://schemas.openxmlformats.org/drawingml/2006/main">
            <a:pPr>
              <a:defRPr sz="825">
                <a:solidFill>
                  <a:srgbClr val="5D6B68"/>
                </a:solidFill>
              </a:defRPr>
            </a:pPr>
            <a:r>
              <a:rPr sz="825">
                <a:solidFill>
                  <a:srgbClr val="5D6B68"/>
                </a:solidFill>
              </a:rPr>
              <a:t>BB-IMS | Group T23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A141E7-91CA-4E54-B261-90C55AFB4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825">
                <a:solidFill>
                  <a:srgbClr val="5D6B68"/>
                </a:solidFill>
              </a:defRPr>
            </a:defPPr>
          </a:lstStyle>
          <a:p xmlns:a="http://schemas.openxmlformats.org/drawingml/2006/main">
            <a:pPr algn="r">
              <a:defRPr sz="825">
                <a:solidFill>
                  <a:srgbClr val="5D6B68"/>
                </a:solidFill>
              </a:defRPr>
            </a:pPr>
            <a:r>
              <a:rPr sz="825">
                <a:solidFill>
                  <a:srgbClr val="5D6B68"/>
                </a:solidFill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0BFD9F-6050-4DFB-A32B-94553A00C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62125"/>
            <a:ext cx="100012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>
                <a:solidFill>
                  <a:srgbClr val="1D2927"/>
                </a:solidFill>
              </a:defRPr>
            </a:defPPr>
          </a:lstStyle>
          <a:p xmlns:a="http://schemas.openxmlformats.org/drawingml/2006/main">
            <a:pPr>
              <a:lnSpc>
                <a:spcPct val="145000"/>
              </a:lnSpc>
              <a:buNone/>
              <a:defRPr sz="1650">
                <a:solidFill>
                  <a:srgbClr val="1D2927"/>
                </a:solidFill>
              </a:defRPr>
            </a:pPr>
            <a:r>
              <a:rPr sz="1650">
                <a:solidFill>
                  <a:srgbClr val="1D2927"/>
                </a:solidFill>
              </a:rPr>
              <a:t>The core store workflows are usable and tested.</a:t>
            </a:r>
          </a:p>
          <a:p xmlns:a="http://schemas.openxmlformats.org/drawingml/2006/main">
            <a:pPr>
              <a:lnSpc>
                <a:spcPct val="145000"/>
              </a:lnSpc>
              <a:buNone/>
              <a:defRPr sz="1650">
                <a:solidFill>
                  <a:srgbClr val="1D2927"/>
                </a:solidFill>
              </a:defRPr>
            </a:pPr>
            <a:r>
              <a:rPr sz="1650">
                <a:solidFill>
                  <a:srgbClr val="1D2927"/>
                </a:solidFill>
              </a:rPr>
              <a:t>The smaller scope made the release achievable.</a:t>
            </a:r>
          </a:p>
          <a:p xmlns:a="http://schemas.openxmlformats.org/drawingml/2006/main">
            <a:pPr>
              <a:lnSpc>
                <a:spcPct val="145000"/>
              </a:lnSpc>
              <a:buNone/>
              <a:defRPr sz="1650">
                <a:solidFill>
                  <a:srgbClr val="1D2927"/>
                </a:solidFill>
              </a:defRPr>
            </a:pPr>
            <a:r>
              <a:rPr sz="1650">
                <a:solidFill>
                  <a:srgbClr val="1D2927"/>
                </a:solidFill>
              </a:rPr>
              <a:t>Evidence captured during the sprint was easier to defend.</a:t>
            </a:r>
          </a:p>
          <a:p xmlns:a="http://schemas.openxmlformats.org/drawingml/2006/main">
            <a:pPr>
              <a:lnSpc>
                <a:spcPct val="145000"/>
              </a:lnSpc>
              <a:buNone/>
              <a:defRPr sz="1650">
                <a:solidFill>
                  <a:srgbClr val="1D2927"/>
                </a:solidFill>
              </a:defRPr>
            </a:pPr>
            <a:r>
              <a:rPr sz="1650">
                <a:solidFill>
                  <a:srgbClr val="1D2927"/>
                </a:solidFill>
              </a:rPr>
              <a:t>The next work is scheduled expiry, authentication and SMS.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C79B48-D4C9-4EA7-AA98-17EAB0974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767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B4A"/>
          </a:solidFill>
          <a:ln xmlns:a="http://schemas.openxmlformats.org/drawingml/2006/main" w="0">
            <a:solidFill>
              <a:srgbClr val="1F5B4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28BDC4-DDF7-4BB2-A843-224B8CD34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10125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73F35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73F35"/>
                </a:solidFill>
              </a:defRPr>
            </a:pPr>
            <a:r>
              <a:rPr sz="2550" b="1">
                <a:solidFill>
                  <a:srgbClr val="173F35"/>
                </a:solidFill>
              </a:rPr>
              <a:t>Questions</a:t>
            </a:r>
          </a:p>
        </p:txBody>
      </p:sp>
    </p:spTree>
    <p:extLst>
      <p:ext uri="{BB962C8B-B14F-4D97-AF65-F5344CB8AC3E}">
        <p14:creationId xmlns:p14="http://schemas.microsoft.com/office/powerpoint/2010/main" val="53416264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2026-10-17T11:17:44.3810000Z</dcterms:created>
  <dcterms:modified xsi:type="dcterms:W3CDTF">2026-10-17T11:17:44.3810000Z</dcterms:modified>
</coreProperties>
</file>